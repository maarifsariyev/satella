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805" y="1958645"/>
            <a:ext cx="1843430" cy="1843430"/>
          </a:xfrm>
          <a:prstGeom prst="ellipse">
            <a:avLst/>
          </a:prstGeom>
          <a:ln w="9144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0100000">
            <a:off x="952805" y="2493240"/>
            <a:ext cx="1843430" cy="774241"/>
          </a:xfrm>
          <a:prstGeom prst="ellipse">
            <a:avLst/>
          </a:prstGeom>
          <a:ln w="68580">
            <a:solidFill>
              <a:srgbClr val="1D9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4091" y="2649931"/>
            <a:ext cx="460858" cy="46085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0" y="2194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3493008" y="3273552"/>
            <a:ext cx="1005840" cy="73152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34381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F1F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Where data meets opportunity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74720" y="40233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9E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Opportunity intelligence for emerging markets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Expansion decisions run on guesswork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331720"/>
            <a:ext cx="868680" cy="868680"/>
          </a:xfrm>
          <a:prstGeom prst="ellipse">
            <a:avLst/>
          </a:prstGeom>
          <a:solidFill>
            <a:srgbClr val="185FA5"/>
          </a:solidFill>
          <a:ln/>
        </p:spPr>
      </p:sp>
      <p:pic>
        <p:nvPicPr>
          <p:cNvPr id="7" name="Image 0" descr="/home/claude/icon_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532888"/>
            <a:ext cx="466344" cy="4663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Manual research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3858768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Maps, brokers and spreadsheets. Slow, subjective, unrepeatable.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19659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331720"/>
            <a:ext cx="868680" cy="868680"/>
          </a:xfrm>
          <a:prstGeom prst="ellipse">
            <a:avLst/>
          </a:prstGeom>
          <a:solidFill>
            <a:srgbClr val="185FA5"/>
          </a:solidFill>
          <a:ln/>
        </p:spPr>
      </p:sp>
      <p:pic>
        <p:nvPicPr>
          <p:cNvPr id="12" name="Image 1" descr="/home/claude/icon_alert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532888"/>
            <a:ext cx="466344" cy="4663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Expensive mistakes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09160" y="3858768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store in the wrong location is a multi-year loss that is hard to reverse.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046720" y="19659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12480" y="2331720"/>
            <a:ext cx="868680" cy="868680"/>
          </a:xfrm>
          <a:prstGeom prst="ellipse">
            <a:avLst/>
          </a:prstGeom>
          <a:solidFill>
            <a:srgbClr val="185FA5"/>
          </a:solidFill>
          <a:ln/>
        </p:spPr>
      </p:sp>
      <p:pic>
        <p:nvPicPr>
          <p:cNvPr id="17" name="Image 2" descr="/home/claude/icon_eyeoff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532888"/>
            <a:ext cx="466344" cy="4663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383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Opportunity stays invisible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12480" y="3858768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Emerging demand and service gaps are never systematically detected.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23" name="Text 18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 shows you where to open next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621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fuse satellite, population and competition data into one explainable Opportunity Score, then rank the best zones to expand — without requiring any customer data.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/>
        </p:spPr>
      </p:sp>
      <p:pic>
        <p:nvPicPr>
          <p:cNvPr id="7" name="Image 0" descr="/home/claude/icon_users_1D9E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328269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31729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Population &amp; demand signals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7673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/>
        </p:spPr>
      </p:sp>
      <p:pic>
        <p:nvPicPr>
          <p:cNvPr id="10" name="Image 1" descr="/home/claude/icon_mappin_1D9E7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384962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373989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Competitor mapping &amp; service gaps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43342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/>
        </p:spPr>
      </p:sp>
      <p:pic>
        <p:nvPicPr>
          <p:cNvPr id="13" name="Image 2" descr="/home/claude/icon_compass_1D9E7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41655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43068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Accessibility analysis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40080" y="490118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1F5EE"/>
          </a:solidFill>
          <a:ln/>
        </p:spPr>
      </p:sp>
      <p:pic>
        <p:nvPicPr>
          <p:cNvPr id="16" name="Image 3" descr="/home/claude/icon_trendingup_1D9E7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983480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70432" y="48737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Satellite-based urban growth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7498080" y="1783080"/>
            <a:ext cx="4023360" cy="4069080"/>
          </a:xfrm>
          <a:prstGeom prst="roundRect">
            <a:avLst>
              <a:gd name="adj" fmla="val 2727"/>
            </a:avLst>
          </a:prstGeom>
          <a:solidFill>
            <a:srgbClr val="26215C"/>
          </a:solidFill>
          <a:ln/>
        </p:spPr>
      </p:sp>
      <p:pic>
        <p:nvPicPr>
          <p:cNvPr id="19" name="Image 4" descr="/home/claude/icon_targe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2103120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2960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F1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OPPORTUNITY SCORE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7772400" y="24231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87</a:t>
            </a:r>
            <a:endParaRPr lang="en-US" sz="7600" dirty="0"/>
          </a:p>
        </p:txBody>
      </p:sp>
      <p:sp>
        <p:nvSpPr>
          <p:cNvPr id="22" name="Text 15"/>
          <p:cNvSpPr/>
          <p:nvPr/>
        </p:nvSpPr>
        <p:spPr>
          <a:xfrm>
            <a:off x="781812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 opportunity zone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81812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Population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9601200" y="4215384"/>
            <a:ext cx="1691640" cy="146304"/>
          </a:xfrm>
          <a:prstGeom prst="roundRect">
            <a:avLst>
              <a:gd name="adj" fmla="val 50000"/>
            </a:avLst>
          </a:prstGeom>
          <a:solidFill>
            <a:srgbClr val="3A3570"/>
          </a:solidFill>
          <a:ln/>
        </p:spPr>
      </p:sp>
      <p:sp>
        <p:nvSpPr>
          <p:cNvPr id="25" name="Shape 18"/>
          <p:cNvSpPr/>
          <p:nvPr/>
        </p:nvSpPr>
        <p:spPr>
          <a:xfrm>
            <a:off x="9601200" y="4215384"/>
            <a:ext cx="1437894" cy="146304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</p:sp>
      <p:sp>
        <p:nvSpPr>
          <p:cNvPr id="26" name="Text 19"/>
          <p:cNvSpPr/>
          <p:nvPr/>
        </p:nvSpPr>
        <p:spPr>
          <a:xfrm>
            <a:off x="781812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 competition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9601200" y="4581144"/>
            <a:ext cx="1691640" cy="146304"/>
          </a:xfrm>
          <a:prstGeom prst="roundRect">
            <a:avLst>
              <a:gd name="adj" fmla="val 50000"/>
            </a:avLst>
          </a:prstGeom>
          <a:solidFill>
            <a:srgbClr val="3A3570"/>
          </a:solidFill>
          <a:ln/>
        </p:spPr>
      </p:sp>
      <p:sp>
        <p:nvSpPr>
          <p:cNvPr id="28" name="Shape 21"/>
          <p:cNvSpPr/>
          <p:nvPr/>
        </p:nvSpPr>
        <p:spPr>
          <a:xfrm>
            <a:off x="9601200" y="4581144"/>
            <a:ext cx="1217981" cy="146304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</p:sp>
      <p:sp>
        <p:nvSpPr>
          <p:cNvPr id="29" name="Text 22"/>
          <p:cNvSpPr/>
          <p:nvPr/>
        </p:nvSpPr>
        <p:spPr>
          <a:xfrm>
            <a:off x="7818120" y="4892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9601200" y="4946904"/>
            <a:ext cx="1691640" cy="146304"/>
          </a:xfrm>
          <a:prstGeom prst="roundRect">
            <a:avLst>
              <a:gd name="adj" fmla="val 50000"/>
            </a:avLst>
          </a:prstGeom>
          <a:solidFill>
            <a:srgbClr val="3A3570"/>
          </a:solidFill>
          <a:ln/>
        </p:spPr>
      </p:sp>
      <p:sp>
        <p:nvSpPr>
          <p:cNvPr id="31" name="Shape 24"/>
          <p:cNvSpPr/>
          <p:nvPr/>
        </p:nvSpPr>
        <p:spPr>
          <a:xfrm>
            <a:off x="9601200" y="4946904"/>
            <a:ext cx="1522476" cy="146304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</p:sp>
      <p:sp>
        <p:nvSpPr>
          <p:cNvPr id="32" name="Text 25"/>
          <p:cNvSpPr/>
          <p:nvPr/>
        </p:nvSpPr>
        <p:spPr>
          <a:xfrm>
            <a:off x="7818120" y="5257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 growth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9601200" y="5312664"/>
            <a:ext cx="1691640" cy="146304"/>
          </a:xfrm>
          <a:prstGeom prst="roundRect">
            <a:avLst>
              <a:gd name="adj" fmla="val 50000"/>
            </a:avLst>
          </a:prstGeom>
          <a:solidFill>
            <a:srgbClr val="3A3570"/>
          </a:solidFill>
          <a:ln/>
        </p:spPr>
      </p:sp>
      <p:sp>
        <p:nvSpPr>
          <p:cNvPr id="34" name="Shape 27"/>
          <p:cNvSpPr/>
          <p:nvPr/>
        </p:nvSpPr>
        <p:spPr>
          <a:xfrm>
            <a:off x="9601200" y="5312664"/>
            <a:ext cx="1065733" cy="146304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</p:sp>
      <p:sp>
        <p:nvSpPr>
          <p:cNvPr id="35" name="Shape 28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38" name="Text 31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PRODUCT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68880" cy="2606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606040"/>
            <a:ext cx="731520" cy="731520"/>
          </a:xfrm>
          <a:prstGeom prst="ellipse">
            <a:avLst/>
          </a:prstGeom>
          <a:solidFill>
            <a:srgbClr val="185FA5"/>
          </a:solidFill>
          <a:ln/>
        </p:spPr>
      </p:sp>
      <p:pic>
        <p:nvPicPr>
          <p:cNvPr id="7" name="Image 0" descr="/home/claude/icon_gri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27797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015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Category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4251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Pharmacy, retail or F&amp;B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090672" y="33101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3429000" y="2286000"/>
            <a:ext cx="2468880" cy="2606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2606040"/>
            <a:ext cx="731520" cy="731520"/>
          </a:xfrm>
          <a:prstGeom prst="ellipse">
            <a:avLst/>
          </a:prstGeom>
          <a:solidFill>
            <a:srgbClr val="185FA5"/>
          </a:solidFill>
          <a:ln/>
        </p:spPr>
      </p:sp>
      <p:pic>
        <p:nvPicPr>
          <p:cNvPr id="14" name="Image 1" descr="/home/claude/icon_mapp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277977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11880" y="34015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66160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Area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566160" y="4251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Center point + radius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879592" y="33101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6217920" y="2286000"/>
            <a:ext cx="2468880" cy="2606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86600" y="2606040"/>
            <a:ext cx="731520" cy="731520"/>
          </a:xfrm>
          <a:prstGeom prst="ellipse">
            <a:avLst/>
          </a:prstGeom>
          <a:solidFill>
            <a:srgbClr val="185FA5"/>
          </a:solidFill>
          <a:ln/>
        </p:spPr>
      </p:sp>
      <p:pic>
        <p:nvPicPr>
          <p:cNvPr id="21" name="Image 2" descr="/home/claude/icon_lay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277977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34015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355080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Scoring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355080" y="4251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zone evaluated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668512" y="33101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1"/>
          <p:cNvSpPr/>
          <p:nvPr/>
        </p:nvSpPr>
        <p:spPr>
          <a:xfrm>
            <a:off x="9006840" y="2286000"/>
            <a:ext cx="2468880" cy="2606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875520" y="2606040"/>
            <a:ext cx="731520" cy="73152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28" name="Image 3" descr="/home/claude/icon_awar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779776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89720" y="34015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144000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Ranked zones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9144000" y="4251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full explanation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35" name="Text 29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product, not a concept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Working platform, live today. Three categories, real Baku data, explainable results.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772400" cy="3886200"/>
          </a:xfrm>
          <a:prstGeom prst="roundRect">
            <a:avLst>
              <a:gd name="adj" fmla="val 2824"/>
            </a:avLst>
          </a:prstGeom>
          <a:solidFill>
            <a:srgbClr val="F7F6F1"/>
          </a:solidFill>
          <a:ln w="19050">
            <a:solidFill>
              <a:srgbClr val="7FA8D4"/>
            </a:solidFill>
            <a:prstDash val="dash"/>
          </a:ln>
        </p:spPr>
      </p:sp>
      <p:pic>
        <p:nvPicPr>
          <p:cNvPr id="7" name="Image 0" descr="/home/claude/icon_mappin_185FA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365760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4348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85FA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[ Demo ekran şəklini bura yerləşdir ]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48006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Tövsiyə: kateqoriya seçilmiş, xəritədə tövsiyə zonaları görünən hal · nisbət ~2:1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91540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933688" y="2816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Categories live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915400" y="3337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~3,500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8933688" y="3867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Zones scored in Baku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915400" y="4389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8933688" y="4919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Score components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915400" y="5486400"/>
            <a:ext cx="2606040" cy="548640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/>
        </p:spPr>
      </p:sp>
      <p:sp>
        <p:nvSpPr>
          <p:cNvPr id="17" name="Text 14"/>
          <p:cNvSpPr/>
          <p:nvPr/>
        </p:nvSpPr>
        <p:spPr>
          <a:xfrm>
            <a:off x="9098280" y="5532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Try it live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098280" y="5760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1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satella-eight.vercel.app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for markets others ignore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Global platforms are built for data-rich markets. Satella works where data is scarce — which is where the growth is.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</p:sp>
      <p:pic>
        <p:nvPicPr>
          <p:cNvPr id="7" name="Image 0" descr="/home/claude/icon_cpu_185FA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97480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291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Satellite economic signal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38404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read nighttime light to estimate commercial intensity and spending power — where no neighbourhood-level income data exists.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237744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</p:sp>
      <p:pic>
        <p:nvPicPr>
          <p:cNvPr id="11" name="Image 1" descr="/home/claude/icon_globe_185FA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697480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91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Emerging-market native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09160" y="38404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dependence on customer sales data, which rarely exists in these markets.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46720" y="237744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1D9E75"/>
          </a:solidFill>
          <a:ln/>
        </p:spPr>
      </p:sp>
      <p:pic>
        <p:nvPicPr>
          <p:cNvPr id="15" name="Image 2" descr="/home/claude/icon_z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697480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3291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Explainable by design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412480" y="38404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1F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score decomposes into its drivers. Not a black box — a defensible decision.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21" name="Text 16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Tested against reality, not intuition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scored every zone in Baku, then checked where 367 existing pharmacies actually sit — a within-city test, so density alone cannot explain the result.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54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60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60120" y="3364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in our top-quartile zones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chance: 25%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3774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54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560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98%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63440" y="3364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in our top half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chance: 50%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237744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254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560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2.1x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366760" y="3364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higher score than city average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56.8 vs 27.3 city mean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Within a single city — the hardest test we can run without customers.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8006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919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Then we invert it. Applying the competition penalty surfaces 241 zones that score in the top 10% for attractiveness but have no pharmacy — dense residential blocks 250 to 580 metres from the nearest one. That list is the product.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2621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pPr indent="0" marL="0">
              <a:lnSpc>
                <a:spcPct val="115000"/>
              </a:lnSpc>
              <a:buNone/>
            </a:pPr>
            <a:r>
              <a:rPr lang="en-US" sz="1350" b="1" i="1" dirty="0">
                <a:solidFill>
                  <a:srgbClr val="1D9E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/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size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Bottom-up, built from real business counts — not top-down percentages.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2240280"/>
            <a:ext cx="3840480" cy="3840480"/>
          </a:xfrm>
          <a:prstGeom prst="ellipse">
            <a:avLst/>
          </a:prstGeom>
          <a:solidFill>
            <a:srgbClr val="C9D9EC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19072" y="2862072"/>
            <a:ext cx="2596896" cy="2596896"/>
          </a:xfrm>
          <a:prstGeom prst="ellipse">
            <a:avLst/>
          </a:prstGeom>
          <a:solidFill>
            <a:srgbClr val="7FA8D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40864" y="3483864"/>
            <a:ext cx="1353312" cy="1353312"/>
          </a:xfrm>
          <a:prstGeom prst="ellipse">
            <a:avLst/>
          </a:prstGeom>
          <a:solidFill>
            <a:srgbClr val="1D9E75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39593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29900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2350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9842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1F5EE"/>
          </a:solidFill>
          <a:ln/>
        </p:spPr>
      </p:sp>
      <p:pic>
        <p:nvPicPr>
          <p:cNvPr id="13" name="Image 0" descr="/home/claude/icon_globe_1D9E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07568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60920" y="1965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366760" y="18928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$67.5B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7360920" y="2514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Global location intelligence market by 2030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66560" y="32826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1F5EE"/>
          </a:solidFill>
          <a:ln/>
        </p:spPr>
      </p:sp>
      <p:pic>
        <p:nvPicPr>
          <p:cNvPr id="18" name="Image 1" descr="/home/claude/icon_users_1D9E7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374136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60920" y="32644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366760" y="319125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~$30M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7360920" y="3813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Caucasus + Central Asia · ~97M people, ~2,800 chains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766560" y="45811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1F5EE"/>
          </a:solidFill>
          <a:ln/>
        </p:spPr>
      </p:sp>
      <p:pic>
        <p:nvPicPr>
          <p:cNvPr id="23" name="Image 2" descr="/home/claude/icon_barchart_1D9E7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672584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360920" y="456285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366760" y="448970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~$1.2M</a:t>
            </a:r>
            <a:endParaRPr lang="en-US" sz="3200" dirty="0"/>
          </a:p>
        </p:txBody>
      </p:sp>
      <p:sp>
        <p:nvSpPr>
          <p:cNvPr id="26" name="Text 21"/>
          <p:cNvSpPr/>
          <p:nvPr/>
        </p:nvSpPr>
        <p:spPr>
          <a:xfrm>
            <a:off x="7360920" y="51114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 by year 5 across 4 markets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766560" y="5623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85F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Azerbaijan first (~$310K ARR by year 3), then Georgia, Kazakhstan and Uzbekistan.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31" name="Text 26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landscape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31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SiteZeus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1005840" y="2926080"/>
            <a:ext cx="457200" cy="54864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20040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 enterprise. Custom revenue models trained on client sales data — which our market doesn't have. No emerging-market presence.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331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Targomo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457200" cy="54864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320040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Europe. Strong accessibility engine, freemium funnel. Thin coverage and no local data in our region.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2011680"/>
            <a:ext cx="3520440" cy="3337560"/>
          </a:xfrm>
          <a:prstGeom prst="roundRect">
            <a:avLst>
              <a:gd name="adj" fmla="val 3288"/>
            </a:avLst>
          </a:prstGeom>
          <a:solidFill>
            <a:srgbClr val="1D9E75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331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8412480" y="2926080"/>
            <a:ext cx="457200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320040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1F5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Emerging-market native. Local data, satellite growth signal, explainable scores, priced for these budgets.</a:t>
            </a:r>
            <a:endParaRPr lang="en-US" sz="1350" dirty="0"/>
          </a:p>
        </p:txBody>
      </p:sp>
      <p:pic>
        <p:nvPicPr>
          <p:cNvPr id="17" name="Image 0" descr="/home/claude/icon_check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377440"/>
            <a:ext cx="365760" cy="3657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MAKE MONEY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model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Recurring SaaS subscription. Customers pay for continuous access to a live, monthly-refreshed market picture — not per report.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$99</a:t>
            </a:r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/month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05840" y="3611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Independent owners opening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their first location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4343400"/>
            <a:ext cx="365760" cy="45720"/>
          </a:xfrm>
          <a:prstGeom prst="roundRect">
            <a:avLst>
              <a:gd name="adj" fmla="val 40000"/>
            </a:avLst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480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Single city · 3 searches/mo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33172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26215C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$499</a:t>
            </a:r>
            <a:pPr indent="0" marL="0">
              <a:buNone/>
            </a:pPr>
            <a:r>
              <a:rPr lang="en-US" sz="1300" dirty="0">
                <a:solidFill>
                  <a:srgbClr val="E6F1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/month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709160" y="3611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F1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Regional chains actively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F1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expanding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9160" y="4343400"/>
            <a:ext cx="365760" cy="45720"/>
          </a:xfrm>
          <a:prstGeom prst="roundRect">
            <a:avLst>
              <a:gd name="adj" fmla="val 40000"/>
            </a:avLst>
          </a:prstGeom>
          <a:solidFill>
            <a:srgbClr val="1D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4480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All categories · unlimited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2331720"/>
            <a:ext cx="3520440" cy="2880360"/>
          </a:xfrm>
          <a:prstGeom prst="roundRect">
            <a:avLst>
              <a:gd name="adj" fmla="val 3810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$1,500+</a:t>
            </a:r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/month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412480" y="3611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National chains and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institutions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412480" y="4343400"/>
            <a:ext cx="365760" cy="45720"/>
          </a:xfrm>
          <a:prstGeom prst="roundRect">
            <a:avLst>
              <a:gd name="adj" fmla="val 40000"/>
            </a:avLst>
          </a:prstGeom>
          <a:solidFill>
            <a:srgbClr val="1D9E75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480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Multi-city · API · support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44068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E1F5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4406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Path to scale:  </a:t>
            </a:r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~$310K ARR in Azerbaijan by year 3, ~$1.2M by year 5 across four markets. The same engine extends to each new city at near-zero marginal cost.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we go next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566928" cy="566928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6" name="Image 0" descr="/home/claude/icon_za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60704" y="2798064"/>
            <a:ext cx="0" cy="749808"/>
          </a:xfrm>
          <a:prstGeom prst="line">
            <a:avLst/>
          </a:prstGeom>
          <a:noFill/>
          <a:ln w="25400">
            <a:solidFill>
              <a:srgbClr val="B4B2A9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1600200" y="21762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Now — product live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600200" y="263347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categories scored across Baku. Validated within-city against 367 existing pharmacies at 4x better than chance.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3520440"/>
            <a:ext cx="566928" cy="566928"/>
          </a:xfrm>
          <a:prstGeom prst="ellipse">
            <a:avLst/>
          </a:prstGeom>
          <a:solidFill>
            <a:srgbClr val="185FA5"/>
          </a:solidFill>
          <a:ln/>
        </p:spPr>
      </p:sp>
      <p:pic>
        <p:nvPicPr>
          <p:cNvPr id="11" name="Image 1" descr="/home/claude/icon_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57600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60704" y="4123944"/>
            <a:ext cx="0" cy="749808"/>
          </a:xfrm>
          <a:prstGeom prst="line">
            <a:avLst/>
          </a:prstGeom>
          <a:noFill/>
          <a:ln w="25400">
            <a:solidFill>
              <a:srgbClr val="B4B2A9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1600200" y="35021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Next 6 months — first customers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1600200" y="395935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Design-partner pilots with pharmacy and retail chains. Pricing and weights tuned on real feedback.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77240" y="4846320"/>
            <a:ext cx="566928" cy="566928"/>
          </a:xfrm>
          <a:prstGeom prst="ellipse">
            <a:avLst/>
          </a:prstGeom>
          <a:solidFill>
            <a:srgbClr val="26215C"/>
          </a:solidFill>
          <a:ln/>
        </p:spPr>
      </p:sp>
      <p:pic>
        <p:nvPicPr>
          <p:cNvPr id="16" name="Image 2" descr="/home/claude/icon_glob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98348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828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12–24 months — new markets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600200" y="528523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Expand to Georgia and Central Asia. Property-price and drive-time layers. ML ranking on outcome data.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22" name="Text 17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WE 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D9E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Bu slaydı öz komanda məlumatınızla doldurun 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81328" y="2606040"/>
            <a:ext cx="914400" cy="914400"/>
          </a:xfrm>
          <a:prstGeom prst="ellipse">
            <a:avLst/>
          </a:prstGeom>
          <a:solidFill>
            <a:srgbClr val="E6F1FB"/>
          </a:solidFill>
          <a:ln w="12700">
            <a:solidFill>
              <a:srgbClr val="7FA8D4"/>
            </a:solidFill>
            <a:prstDash val="solid"/>
          </a:ln>
        </p:spPr>
      </p:sp>
      <p:pic>
        <p:nvPicPr>
          <p:cNvPr id="8" name="Image 0" descr="/home/claude/icon_users_185FA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216" y="285292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703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Ad Soyad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4069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9E7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Rol / vəzifə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4434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Qısa arxa plan — təcrübə,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əvvəlki iş, təhsil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29000" y="22860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70248" y="2606040"/>
            <a:ext cx="914400" cy="914400"/>
          </a:xfrm>
          <a:prstGeom prst="ellipse">
            <a:avLst/>
          </a:prstGeom>
          <a:solidFill>
            <a:srgbClr val="E6F1FB"/>
          </a:solidFill>
          <a:ln w="12700">
            <a:solidFill>
              <a:srgbClr val="7FA8D4"/>
            </a:solidFill>
            <a:prstDash val="solid"/>
          </a:ln>
        </p:spPr>
      </p:sp>
      <p:pic>
        <p:nvPicPr>
          <p:cNvPr id="14" name="Image 1" descr="/home/claude/icon_users_185FA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285292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3703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Ad Soyad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657600" y="4069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9E7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Rol / vəzifə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657600" y="4434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Qısa arxa plan — təcrübə,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əvvəlki iş, təhsil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217920" y="22860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59168" y="2606040"/>
            <a:ext cx="914400" cy="914400"/>
          </a:xfrm>
          <a:prstGeom prst="ellipse">
            <a:avLst/>
          </a:prstGeom>
          <a:solidFill>
            <a:srgbClr val="E6F1FB"/>
          </a:solidFill>
          <a:ln w="12700">
            <a:solidFill>
              <a:srgbClr val="7FA8D4"/>
            </a:solidFill>
            <a:prstDash val="solid"/>
          </a:ln>
        </p:spPr>
      </p:sp>
      <p:pic>
        <p:nvPicPr>
          <p:cNvPr id="20" name="Image 2" descr="/home/claude/icon_users_185FA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852928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46520" y="3703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Ad Soyad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446520" y="4069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9E7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Rol / vəzifə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446520" y="4434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Qısa arxa plan — təcrübə,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əvvəlki iş, təhsil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9006840" y="228600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848088" y="2606040"/>
            <a:ext cx="914400" cy="914400"/>
          </a:xfrm>
          <a:prstGeom prst="ellipse">
            <a:avLst/>
          </a:prstGeom>
          <a:solidFill>
            <a:srgbClr val="E6F1FB"/>
          </a:solidFill>
          <a:ln w="12700">
            <a:solidFill>
              <a:srgbClr val="7FA8D4"/>
            </a:solidFill>
            <a:prstDash val="solid"/>
          </a:ln>
        </p:spPr>
      </p:sp>
      <p:pic>
        <p:nvPicPr>
          <p:cNvPr id="26" name="Image 3" descr="/home/claude/icon_users_185FA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976" y="2852928"/>
            <a:ext cx="420624" cy="42062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35440" y="3703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Ad Soyad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9235440" y="4069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9E75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Rol / vəzifə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9235440" y="44348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Qısa arxa plan — təcrübə,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əvvəlki iş, təhsil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33" name="Text 27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we're raising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Pre-seed to reach first revenue and prove the model on paying customers.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26215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F1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RAISING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$185K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6012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months of runway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20640" y="224028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2240280"/>
            <a:ext cx="82296" cy="1097280"/>
          </a:xfrm>
          <a:prstGeom prst="roundRect">
            <a:avLst>
              <a:gd name="adj" fmla="val 44444"/>
            </a:avLst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Team &amp; product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068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founders full-time, data pipeline, new coverage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332720" y="2377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60%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120640" y="347472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3474720"/>
            <a:ext cx="82296" cy="1097280"/>
          </a:xfrm>
          <a:prstGeom prst="roundRect">
            <a:avLst>
              <a:gd name="adj" fmla="val 44444"/>
            </a:avLst>
          </a:prstGeom>
          <a:solidFill>
            <a:srgbClr val="1D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Go-to-market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3977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 sales hire, design-partner pilots, events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332720" y="3611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25%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120640" y="47091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7F6F1"/>
          </a:solidFill>
          <a:ln w="12700">
            <a:solidFill>
              <a:srgbClr val="E4E2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4709160"/>
            <a:ext cx="82296" cy="1097280"/>
          </a:xfrm>
          <a:prstGeom prst="roundRect">
            <a:avLst>
              <a:gd name="adj" fmla="val 44444"/>
            </a:avLst>
          </a:prstGeom>
          <a:solidFill>
            <a:srgbClr val="1D9E75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15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Operations &amp; buffer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5212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Infrastructure, legal, contingency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332720" y="4846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15%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40080" y="4297680"/>
            <a:ext cx="4206240" cy="1600200"/>
          </a:xfrm>
          <a:prstGeom prst="roundRect">
            <a:avLst>
              <a:gd name="adj" fmla="val 6857"/>
            </a:avLst>
          </a:prstGeom>
          <a:solidFill>
            <a:srgbClr val="E1F5E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9E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18-month milestone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4736592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10–15 paying customers,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validated pricing, and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6215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coverage beyond Baku.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30352" y="6318504"/>
            <a:ext cx="256032" cy="256032"/>
          </a:xfrm>
          <a:prstGeom prst="ellipse">
            <a:avLst/>
          </a:prstGeom>
          <a:ln w="12700">
            <a:solidFill>
              <a:srgbClr val="185FA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0100000">
            <a:off x="530352" y="6392753"/>
            <a:ext cx="256032" cy="107533"/>
          </a:xfrm>
          <a:prstGeom prst="ellipse">
            <a:avLst/>
          </a:prstGeom>
          <a:ln w="9525">
            <a:solidFill>
              <a:srgbClr val="1D9E7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" y="6414516"/>
            <a:ext cx="64008" cy="6400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6245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21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SATELLA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247120" y="62453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0680" y="1508760"/>
            <a:ext cx="1280160" cy="1280160"/>
          </a:xfrm>
          <a:prstGeom prst="ellipse">
            <a:avLst/>
          </a:prstGeom>
          <a:ln w="635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0100000">
            <a:off x="5440680" y="1880006"/>
            <a:ext cx="1280160" cy="537667"/>
          </a:xfrm>
          <a:prstGeom prst="ellipse">
            <a:avLst/>
          </a:prstGeom>
          <a:ln w="47625">
            <a:solidFill>
              <a:srgbClr val="1D9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20740" y="198882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 where to expand next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715000" y="4096512"/>
            <a:ext cx="731520" cy="64008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2519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F1F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Opportunity intelligence for emerging markets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9E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____________@______   ·   ____________   ·   linkedin.com/in/__________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54406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A8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email · sayt · LinkedIn 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2026-08-24T06:11:10Z</dcterms:created>
  <dcterms:modified xsi:type="dcterms:W3CDTF">2026-08-24T06:11:10Z</dcterms:modified>
</cp:coreProperties>
</file>